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00" d="100"/>
          <a:sy n="300" d="100"/>
        </p:scale>
        <p:origin x="-6403" y="-2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3530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2112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607040" y="3931920"/>
            <a:ext cx="2743200" cy="2743200"/>
          </a:xfrm>
          <a:prstGeom prst="ellipse">
            <a:avLst/>
          </a:prstGeom>
          <a:solidFill>
            <a:srgbClr val="2112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2112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INTERFACES  ·  UNIDAD 1: INTERFACES SONORAS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SonAlerta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9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Cojín Sonoro de Contacto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Interactivo mediante Keyboard Hack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663440"/>
            <a:ext cx="502920" cy="502920"/>
          </a:xfrm>
          <a:prstGeom prst="ellipse">
            <a:avLst/>
          </a:prstGeom>
          <a:solidFill>
            <a:srgbClr val="2112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0" descr="/home/claude/icons/foot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76402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46634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Ambrosio Valdes y Jose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Flaño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46634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10 de septiembre, 2026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F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SonAlerta · Taller de Interfaces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e Inspiración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la visita al Museo Interactivo Mirador (MIM) observamos cómo las exhibiciones transforman gestos cotidianos —empujar, pisar, tocar— en estímulos sonoros y visuales inmediatos. Ese principio de "el cuerpo activa el sonido" es el punto de partida de este proyecto.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SonAlerta reemplaza una tecla convencional por un cojín de presión: al pisarlo, un contacto físico cierra el circuito interno de un teclado desarmado (keyboard hack), simulando la pulsación de una tecla numérica y disparando una alarma sonora en tiempo real.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371600"/>
            <a:ext cx="4297680" cy="4206240"/>
          </a:xfrm>
          <a:prstGeom prst="roundRect">
            <a:avLst>
              <a:gd name="adj" fmla="val 3261"/>
            </a:avLst>
          </a:prstGeom>
          <a:solidFill>
            <a:srgbClr val="2D1B4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772400" y="1783080"/>
            <a:ext cx="822960" cy="822960"/>
          </a:xfrm>
          <a:prstGeom prst="ellipse">
            <a:avLst/>
          </a:prstGeom>
          <a:solidFill>
            <a:srgbClr val="2112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/home/claude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566" y="1968246"/>
            <a:ext cx="452628" cy="452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278892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“Convertir el peso de un paso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una señal sonora”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35240" y="406908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interacción es simple e intuitiva: no requiere instrucciones, solo el gesto natural de pisar.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SonAlerta · Taller de Interfaces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Interruptor: Cojín de Contacto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entrada · Hardware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818120" y="1554480"/>
            <a:ext cx="3749040" cy="4434840"/>
          </a:xfrm>
          <a:prstGeom prst="roundRect">
            <a:avLst>
              <a:gd name="adj" fmla="val 2927"/>
            </a:avLst>
          </a:prstGeom>
          <a:solidFill>
            <a:srgbClr val="EDE7F6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7818120" y="5440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fotográfico del prototipo en uso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1" descr="/home/claude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170307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57276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Esponja como resorte natural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34440" y="189280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esponja de alta densidad actúa como base elástica: recupera su forma tras cada pisada.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2" descr="/home/claude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275463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62432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de papel aluminio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34440" y="294436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superficies conductoras (aluminio) se cierran al comprimirse, cerrando el circuito.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3" descr="/home/claude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380619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67588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de teclado reciclado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34440" y="399592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reutiliza la placa (PCB) de un teclado desarmado: el contacto simula la pulsación de una tecla.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0" name="Image 4" descr="/home/claude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4857750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472744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visual (LED)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234440" y="504748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LED confirma en tiempo real que el circuito se cerró correctamente.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SonAlerta · Taller de Interfaces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32FC5A8B-EBDF-AFC7-AE1F-A51DFC751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810" y="1892808"/>
            <a:ext cx="257175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del Circuito (Keyboard Hack)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962302" cy="283464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1118311" y="21031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/home/claude/icons/foot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477" y="228828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3063240"/>
            <a:ext cx="17428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del pie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3566160"/>
            <a:ext cx="168798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pisa el cojín sensorial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510942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30982" y="1828800"/>
            <a:ext cx="1962302" cy="283464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3400654" y="21031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1" descr="/home/claude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820" y="228828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0710" y="3063240"/>
            <a:ext cx="17428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cerrado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68142" y="3566160"/>
            <a:ext cx="168798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aluminio cierra el circuito (interruptor)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793285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113325" y="1828800"/>
            <a:ext cx="1962302" cy="283464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2"/>
          <p:cNvSpPr/>
          <p:nvPr/>
        </p:nvSpPr>
        <p:spPr>
          <a:xfrm>
            <a:off x="5682996" y="21031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7" name="Image 2" descr="/home/claude/icons/key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162" y="2288286"/>
            <a:ext cx="452628" cy="4526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23053" y="3063240"/>
            <a:ext cx="17428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del teclado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250485" y="3566160"/>
            <a:ext cx="168798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llega a la fila/columna de la tecla "4"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7075627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7395667" y="1828800"/>
            <a:ext cx="1962302" cy="283464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17"/>
          <p:cNvSpPr/>
          <p:nvPr/>
        </p:nvSpPr>
        <p:spPr>
          <a:xfrm>
            <a:off x="7965338" y="21031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3" descr="/home/claude/icons/circuit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0504" y="2288286"/>
            <a:ext cx="452628" cy="4526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05395" y="3063240"/>
            <a:ext cx="17428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controladora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532827" y="3566160"/>
            <a:ext cx="168798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PCB del teclado interpreta la pulsación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9357970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9678010" y="1828800"/>
            <a:ext cx="1962302" cy="283464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Shape 22"/>
          <p:cNvSpPr/>
          <p:nvPr/>
        </p:nvSpPr>
        <p:spPr>
          <a:xfrm>
            <a:off x="10247681" y="21031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9" name="Image 4" descr="/home/claude/icons/laptop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2847" y="2288286"/>
            <a:ext cx="452628" cy="45262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787738" y="3063240"/>
            <a:ext cx="17428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(USB)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9815170" y="3566160"/>
            <a:ext cx="168798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operativo recibe el evento de tecla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2606040" y="4937760"/>
            <a:ext cx="9052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SonAlerta · Taller de Interfaces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Sonora: el Software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interactivo · Web Audio API / JavaScript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38912" cy="438912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/home/claude/icons/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1790395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733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escucha el evento "keydown"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88720" y="2020824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 web detecta cuándo el teclado hackeado envía la tecla asociada al cojín.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862072"/>
            <a:ext cx="438912" cy="438912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1" descr="/home/claude/icons/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2960827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84378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reproduce un sample de audio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88720" y="3191256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detectar la tecla, JavaScript ejecuta audio.play() sobre un archivo pregrabado (alarma.mp3).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032504"/>
            <a:ext cx="438912" cy="438912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/home/claude/icons/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413125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401421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Reinicio instantáneo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88720" y="436168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audio se reinicia (currentTime = 0) en cada pisada, permitiendo activaciones repetidas sin demora.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0" y="1691640"/>
            <a:ext cx="5212080" cy="4343400"/>
          </a:xfrm>
          <a:prstGeom prst="roundRect">
            <a:avLst>
              <a:gd name="adj" fmla="val 2526"/>
            </a:avLst>
          </a:prstGeom>
          <a:solidFill>
            <a:srgbClr val="2112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2"/>
          <p:cNvSpPr/>
          <p:nvPr/>
        </p:nvSpPr>
        <p:spPr>
          <a:xfrm>
            <a:off x="672084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720840" y="2286000"/>
            <a:ext cx="4617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window.addEventListener('keydown',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(evento) =&gt;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(evento.code === 'Digit4')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audio.currentTime = 0;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audio.play();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estadoText.innerText =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"¡Cojín activado! Sonando...";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SonAlerta · Taller de Interfaces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General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presión física al sonido: hardware + software trabajando juntos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91463" y="2331720"/>
            <a:ext cx="1005840" cy="1005840"/>
          </a:xfrm>
          <a:prstGeom prst="ellipse">
            <a:avLst/>
          </a:prstGeom>
          <a:solidFill>
            <a:srgbClr val="2112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/home/claude/icons/foot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777" y="255803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474720"/>
            <a:ext cx="21086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565806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91510" y="2331720"/>
            <a:ext cx="1005840" cy="1005840"/>
          </a:xfrm>
          <a:prstGeom prst="ellipse">
            <a:avLst/>
          </a:prstGeom>
          <a:solidFill>
            <a:srgbClr val="2112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1" descr="/home/claude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824" y="2558034"/>
            <a:ext cx="553212" cy="5532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40126" y="3474720"/>
            <a:ext cx="21086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eléctrico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765853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591556" y="2331720"/>
            <a:ext cx="1005840" cy="1005840"/>
          </a:xfrm>
          <a:prstGeom prst="ellipse">
            <a:avLst/>
          </a:prstGeom>
          <a:solidFill>
            <a:srgbClr val="2112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/home/claude/icons/key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870" y="2558034"/>
            <a:ext cx="553212" cy="5532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40173" y="3474720"/>
            <a:ext cx="21086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 "4"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965899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7791602" y="2331720"/>
            <a:ext cx="1005840" cy="1005840"/>
          </a:xfrm>
          <a:prstGeom prst="ellipse">
            <a:avLst/>
          </a:prstGeom>
          <a:solidFill>
            <a:srgbClr val="2112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7" name="Image 3" descr="/home/claude/icons/laptop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7916" y="2558034"/>
            <a:ext cx="553212" cy="5532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40219" y="3474720"/>
            <a:ext cx="21086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keydown (JS)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165946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9991649" y="2331720"/>
            <a:ext cx="1005840" cy="1005840"/>
          </a:xfrm>
          <a:prstGeom prst="ellipse">
            <a:avLst/>
          </a:prstGeom>
          <a:solidFill>
            <a:srgbClr val="2112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1" name="Image 4" descr="/home/claude/icons/volum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7963" y="2558034"/>
            <a:ext cx="553212" cy="5532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40266" y="3474720"/>
            <a:ext cx="21086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audio.play()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2286000" y="4617720"/>
            <a:ext cx="7589520" cy="1234440"/>
          </a:xfrm>
          <a:prstGeom prst="roundRect">
            <a:avLst>
              <a:gd name="adj" fmla="val 8889"/>
            </a:avLst>
          </a:prstGeom>
          <a:solidFill>
            <a:srgbClr val="2112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17"/>
          <p:cNvSpPr/>
          <p:nvPr/>
        </p:nvSpPr>
        <p:spPr>
          <a:xfrm>
            <a:off x="2606040" y="4617720"/>
            <a:ext cx="6949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alarma suena de inmediato, confirmando la interacción física-sonora en tiempo real.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F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SonAlerta · Taller de Interfaces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Explosionada del Dispositivo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y salidas de la interfaz: física · visual · acústica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274320" cy="155448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68680" y="12984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FÍSICA (entrada)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60520" y="1344168"/>
            <a:ext cx="274320" cy="155448"/>
          </a:xfrm>
          <a:prstGeom prst="rect">
            <a:avLst/>
          </a:prstGeom>
          <a:solidFill>
            <a:srgbClr val="29B6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526280" y="12984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VISUAL (salida)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818120" y="1344168"/>
            <a:ext cx="274320" cy="155448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8183880" y="12984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ACÚSTICA (salida)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11155680" cy="0"/>
          </a:xfrm>
          <a:prstGeom prst="line">
            <a:avLst/>
          </a:prstGeom>
          <a:noFill/>
          <a:ln w="12700">
            <a:solidFill>
              <a:srgbClr val="DCD5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868680" y="1965960"/>
            <a:ext cx="713232" cy="713232"/>
          </a:xfrm>
          <a:prstGeom prst="ellipse">
            <a:avLst/>
          </a:prstGeom>
          <a:solidFill>
            <a:srgbClr val="21123A"/>
          </a:solidFill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2" name="Image 0" descr="/home/claude/icons/foot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56" y="2137136"/>
            <a:ext cx="370881" cy="37088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74520" y="198424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del usuario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874520" y="2276856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presión sobre el cojín (gesto natural, sin instrucciones).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1225296" y="2679192"/>
            <a:ext cx="109728" cy="128016"/>
          </a:xfrm>
          <a:prstGeom prst="line">
            <a:avLst/>
          </a:prstGeom>
          <a:noFill/>
          <a:ln w="22225">
            <a:solidFill>
              <a:srgbClr val="FFC107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3"/>
          <p:cNvSpPr/>
          <p:nvPr/>
        </p:nvSpPr>
        <p:spPr>
          <a:xfrm>
            <a:off x="978408" y="2807208"/>
            <a:ext cx="713232" cy="713232"/>
          </a:xfrm>
          <a:prstGeom prst="ellipse">
            <a:avLst/>
          </a:prstGeom>
          <a:solidFill>
            <a:srgbClr val="21123A"/>
          </a:solidFill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7" name="Image 1" descr="/home/claude/icons/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584" y="2978384"/>
            <a:ext cx="370881" cy="37088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84248" y="282549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Cojín de espuma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990304" y="311810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amortiguadora que se comprime y recupera su forma tras cada pisada.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1335024" y="3520440"/>
            <a:ext cx="109728" cy="128016"/>
          </a:xfrm>
          <a:prstGeom prst="line">
            <a:avLst/>
          </a:prstGeom>
          <a:noFill/>
          <a:ln w="22225">
            <a:solidFill>
              <a:srgbClr val="FFC107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7"/>
          <p:cNvSpPr/>
          <p:nvPr/>
        </p:nvSpPr>
        <p:spPr>
          <a:xfrm>
            <a:off x="1088136" y="3648456"/>
            <a:ext cx="713232" cy="713232"/>
          </a:xfrm>
          <a:prstGeom prst="ellipse">
            <a:avLst/>
          </a:prstGeom>
          <a:solidFill>
            <a:srgbClr val="21123A"/>
          </a:solidFill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2" name="Image 2" descr="/home/claude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312" y="3819632"/>
            <a:ext cx="370881" cy="37088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093976" y="366674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de aluminio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2093976" y="3959352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láminas conductoras se tocan al comprimirse: aquí se cierra el circuito.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1444752" y="4361688"/>
            <a:ext cx="109728" cy="128016"/>
          </a:xfrm>
          <a:prstGeom prst="line">
            <a:avLst/>
          </a:prstGeom>
          <a:noFill/>
          <a:ln w="22225">
            <a:solidFill>
              <a:srgbClr val="FFC107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1"/>
          <p:cNvSpPr/>
          <p:nvPr/>
        </p:nvSpPr>
        <p:spPr>
          <a:xfrm>
            <a:off x="1197864" y="4489704"/>
            <a:ext cx="713232" cy="713232"/>
          </a:xfrm>
          <a:prstGeom prst="ellipse">
            <a:avLst/>
          </a:prstGeom>
          <a:solidFill>
            <a:srgbClr val="21123A"/>
          </a:solidFill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7" name="Image 3" descr="/home/claude/icons/circuit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040" y="4660880"/>
            <a:ext cx="370881" cy="37088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203704" y="450799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soldados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2203704" y="4800600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Conducen la señal desde el contacto hasta la placa del teclado.</a:t>
            </a:r>
            <a:endParaRPr lang="en-US" sz="980" dirty="0"/>
          </a:p>
        </p:txBody>
      </p:sp>
      <p:sp>
        <p:nvSpPr>
          <p:cNvPr id="30" name="Shape 24"/>
          <p:cNvSpPr/>
          <p:nvPr/>
        </p:nvSpPr>
        <p:spPr>
          <a:xfrm>
            <a:off x="1554480" y="5202936"/>
            <a:ext cx="109728" cy="128016"/>
          </a:xfrm>
          <a:prstGeom prst="line">
            <a:avLst/>
          </a:prstGeom>
          <a:noFill/>
          <a:ln w="22225">
            <a:solidFill>
              <a:srgbClr val="FFC107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5"/>
          <p:cNvSpPr/>
          <p:nvPr/>
        </p:nvSpPr>
        <p:spPr>
          <a:xfrm>
            <a:off x="1307592" y="5330952"/>
            <a:ext cx="713232" cy="713232"/>
          </a:xfrm>
          <a:prstGeom prst="ellipse">
            <a:avLst/>
          </a:prstGeom>
          <a:solidFill>
            <a:srgbClr val="21123A"/>
          </a:solidFill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2" name="Image 4" descr="/home/claude/icons/key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8768" y="5502128"/>
            <a:ext cx="370881" cy="370881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313432" y="5349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del teclado (hack)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2313432" y="5641848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el cierre de contacto como la pulsación de la tecla "4".</a:t>
            </a:r>
            <a:endParaRPr lang="en-US" sz="980" dirty="0"/>
          </a:p>
        </p:txBody>
      </p:sp>
      <p:sp>
        <p:nvSpPr>
          <p:cNvPr id="35" name="Shape 28"/>
          <p:cNvSpPr/>
          <p:nvPr/>
        </p:nvSpPr>
        <p:spPr>
          <a:xfrm>
            <a:off x="658368" y="1874520"/>
            <a:ext cx="41148" cy="4261104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Shape 29"/>
          <p:cNvSpPr/>
          <p:nvPr/>
        </p:nvSpPr>
        <p:spPr>
          <a:xfrm>
            <a:off x="795528" y="160020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10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Text 30"/>
          <p:cNvSpPr/>
          <p:nvPr/>
        </p:nvSpPr>
        <p:spPr>
          <a:xfrm>
            <a:off x="795528" y="1600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FÍSICA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 flipV="1">
            <a:off x="2020824" y="3744468"/>
            <a:ext cx="4494276" cy="1943100"/>
          </a:xfrm>
          <a:prstGeom prst="line">
            <a:avLst/>
          </a:prstGeom>
          <a:noFill/>
          <a:ln w="22225">
            <a:solidFill>
              <a:srgbClr val="3333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9" name="Shape 32"/>
          <p:cNvSpPr/>
          <p:nvPr/>
        </p:nvSpPr>
        <p:spPr>
          <a:xfrm>
            <a:off x="6080760" y="3429000"/>
            <a:ext cx="868680" cy="868680"/>
          </a:xfrm>
          <a:prstGeom prst="ellipse">
            <a:avLst/>
          </a:prstGeom>
          <a:solidFill>
            <a:srgbClr val="21123A"/>
          </a:solidFill>
          <a:ln w="381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0" name="Image 5" descr="/home/claude/icons/laptop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9243" y="3637483"/>
            <a:ext cx="451714" cy="45171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394960" y="4352544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(navegador)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5349240" y="460857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"keydown" y ejecuta</a:t>
            </a:r>
            <a:endParaRPr lang="en-US" sz="93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3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audio.play()</a:t>
            </a:r>
            <a:endParaRPr lang="en-US" sz="930" dirty="0"/>
          </a:p>
        </p:txBody>
      </p:sp>
      <p:sp>
        <p:nvSpPr>
          <p:cNvPr id="43" name="Shape 35"/>
          <p:cNvSpPr/>
          <p:nvPr/>
        </p:nvSpPr>
        <p:spPr>
          <a:xfrm flipV="1">
            <a:off x="6606540" y="2263140"/>
            <a:ext cx="2926080" cy="1508760"/>
          </a:xfrm>
          <a:prstGeom prst="line">
            <a:avLst/>
          </a:prstGeom>
          <a:noFill/>
          <a:ln w="22225">
            <a:solidFill>
              <a:srgbClr val="29B6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4" name="Shape 36"/>
          <p:cNvSpPr/>
          <p:nvPr/>
        </p:nvSpPr>
        <p:spPr>
          <a:xfrm>
            <a:off x="9189720" y="1828800"/>
            <a:ext cx="777240" cy="777240"/>
          </a:xfrm>
          <a:prstGeom prst="ellipse">
            <a:avLst/>
          </a:prstGeom>
          <a:solidFill>
            <a:srgbClr val="21123A"/>
          </a:solidFill>
          <a:ln w="38100">
            <a:solidFill>
              <a:srgbClr val="29B6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5" name="Image 6" descr="/home/claude/icons/lightbul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6258" y="2015338"/>
            <a:ext cx="404165" cy="404165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0149840" y="18105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VISUAL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10149840" y="2048256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de estado: confirma que el circuito se cerró correctamente.</a:t>
            </a:r>
            <a:endParaRPr lang="en-US" sz="980" dirty="0"/>
          </a:p>
        </p:txBody>
      </p:sp>
      <p:sp>
        <p:nvSpPr>
          <p:cNvPr id="48" name="Shape 39"/>
          <p:cNvSpPr/>
          <p:nvPr/>
        </p:nvSpPr>
        <p:spPr>
          <a:xfrm>
            <a:off x="6606540" y="3954780"/>
            <a:ext cx="2926080" cy="960120"/>
          </a:xfrm>
          <a:prstGeom prst="line">
            <a:avLst/>
          </a:prstGeom>
          <a:noFill/>
          <a:ln w="22225">
            <a:solidFill>
              <a:srgbClr val="FF3B3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49" name="Shape 40"/>
          <p:cNvSpPr/>
          <p:nvPr/>
        </p:nvSpPr>
        <p:spPr>
          <a:xfrm>
            <a:off x="9189720" y="4572000"/>
            <a:ext cx="777240" cy="777240"/>
          </a:xfrm>
          <a:prstGeom prst="ellipse">
            <a:avLst/>
          </a:prstGeom>
          <a:solidFill>
            <a:srgbClr val="21123A"/>
          </a:solidFill>
          <a:ln w="38100">
            <a:solidFill>
              <a:srgbClr val="FF3B3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0" name="Image 7" descr="/home/claude/icons/volum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6258" y="4758538"/>
            <a:ext cx="404165" cy="404165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10149840" y="45537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ACÚSTICA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10149840" y="4791456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Parlante: reproduce la alarma sonora (alarma.mp3) al detectar la pulsación.</a:t>
            </a:r>
            <a:endParaRPr lang="en-US" sz="980" dirty="0"/>
          </a:p>
        </p:txBody>
      </p:sp>
      <p:sp>
        <p:nvSpPr>
          <p:cNvPr id="53" name="Text 4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SonAlerta · Taller de Interfaces</a:t>
            </a:r>
            <a:endParaRPr lang="en-US" sz="1000" dirty="0"/>
          </a:p>
        </p:txBody>
      </p:sp>
      <p:sp>
        <p:nvSpPr>
          <p:cNvPr id="54" name="Text 4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de Construcción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fotográfico y video de pruebas del prototipo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DE7F6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/home/claude/proc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8640" y="1417320"/>
            <a:ext cx="251460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13639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y cableado de la carcasa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341071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preparó la cubierta exterior y se soldaron los cables que saldrán del cojín.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337560" y="1371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DE7F6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1" descr="/home/claude/proc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383280" y="1417320"/>
            <a:ext cx="2514600" cy="1645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313639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interno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337560" y="341071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Esponja + contacto de aluminio conectados a la placa (PCB) dentro de la carcasa.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172200" y="1371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DE7F6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/home/claude/proc3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17920" y="1417320"/>
            <a:ext cx="2514600" cy="1645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313639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sellado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172200" y="341071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cerró la carcasa dejando el cable de salida hacia el computador.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9006840" y="1371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DE7F6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7" name="Image 3" descr="/home/claude/proc4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052560" y="1417320"/>
            <a:ext cx="2514600" cy="1645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06840" y="313639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la placa (keyboard hack)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9006840" y="341071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reutilizada: pines D+, D-, GND y V, con los cables soldados directamente.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02920" y="4023360"/>
            <a:ext cx="11155680" cy="0"/>
          </a:xfrm>
          <a:prstGeom prst="line">
            <a:avLst/>
          </a:prstGeom>
          <a:noFill/>
          <a:ln w="12700">
            <a:solidFill>
              <a:srgbClr val="DCD5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5"/>
          <p:cNvSpPr/>
          <p:nvPr/>
        </p:nvSpPr>
        <p:spPr>
          <a:xfrm>
            <a:off x="502920" y="4251960"/>
            <a:ext cx="457200" cy="45720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2" name="Image 4" descr="/home/claude/icons/vide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790" y="4354830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428853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del proceso: prueba en vivo del prototipo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1097280" y="46634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funcionando en tiempo real: se configura la hora de la alarma en la interfaz web y, al presionar el cojín, el estado cambia a "¡ALARMA DISPARADA!" y suena el audio.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8366760" y="4206240"/>
            <a:ext cx="1645920" cy="1874520"/>
          </a:xfrm>
          <a:prstGeom prst="roundRect">
            <a:avLst>
              <a:gd name="adj" fmla="val 5556"/>
            </a:avLst>
          </a:prstGeom>
          <a:solidFill>
            <a:srgbClr val="21123A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6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58200" y="4297680"/>
            <a:ext cx="1463040" cy="1691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SonAlerta · Taller de Interfaces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878</Words>
  <Application>Microsoft Office PowerPoint</Application>
  <PresentationFormat>Panorámica</PresentationFormat>
  <Paragraphs>134</Paragraphs>
  <Slides>8</Slides>
  <Notes>8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Ambrosio Valdes</cp:lastModifiedBy>
  <cp:revision>2</cp:revision>
  <dcterms:created xsi:type="dcterms:W3CDTF">2026-09-10T15:01:22Z</dcterms:created>
  <dcterms:modified xsi:type="dcterms:W3CDTF">2026-09-11T00:50:14Z</dcterms:modified>
</cp:coreProperties>
</file>